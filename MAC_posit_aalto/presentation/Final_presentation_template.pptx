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1" r:id="rId10"/>
    <p:sldId id="266" r:id="rId11"/>
    <p:sldId id="262" r:id="rId12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85685" autoAdjust="0"/>
  </p:normalViewPr>
  <p:slideViewPr>
    <p:cSldViewPr>
      <p:cViewPr>
        <p:scale>
          <a:sx n="50" d="100"/>
          <a:sy n="50" d="100"/>
        </p:scale>
        <p:origin x="1267" y="-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058" y="-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EAB9F-B76B-499A-9109-82B38147D47E}" type="datetimeFigureOut">
              <a:rPr lang="fi-FI" smtClean="0"/>
              <a:t>22.5.2017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42A18-C789-44E8-9C3F-AB995BE73097}" type="slidenum">
              <a:rPr lang="fi-FI" smtClean="0"/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E2D05-BA9A-4840-9EC6-4E6AC4D1D7C8}" type="datetimeFigureOut">
              <a:rPr lang="fi-FI" smtClean="0"/>
              <a:t>22.5.2017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24BB8-0020-45DE-8945-D9F566855AD9}" type="slidenum">
              <a:rPr lang="fi-FI" smtClean="0"/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24BB8-0020-45DE-8945-D9F566855AD9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8966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i-FI" dirty="0"/>
                  <a:t>Input impedance= 216</a:t>
                </a:r>
                <a:r>
                  <a:rPr lang="el-GR" dirty="0"/>
                  <a:t>Ω</a:t>
                </a:r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DC gain= 18.3 dB</a:t>
                </a:r>
              </a:p>
              <a:p>
                <a:r>
                  <a:rPr lang="fi-FI" dirty="0"/>
                  <a:t>Power consumption= 2.97mW</a:t>
                </a:r>
              </a:p>
              <a:p>
                <a:r>
                  <a:rPr lang="fi-FI" dirty="0"/>
                  <a:t>Input refered noise voltage=</a:t>
                </a:r>
              </a:p>
              <a:p>
                <a:r>
                  <a:rPr lang="fi-FI" dirty="0"/>
                  <a:t>21.2nV/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i-FI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i-FI" b="0" i="1" dirty="0" smtClean="0">
                            <a:latin typeface="Cambria Math" panose="02040503050406030204" pitchFamily="18" charset="0"/>
                          </a:rPr>
                          <m:t>𝐻𝑧</m:t>
                        </m:r>
                      </m:e>
                    </m:rad>
                  </m:oMath>
                </a14:m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IIP3 = -3.15 dBm</a:t>
                </a:r>
              </a:p>
              <a:p>
                <a:r>
                  <a:rPr lang="fi-FI" dirty="0"/>
                  <a:t>P1dB = -15.82 dBm</a:t>
                </a:r>
              </a:p>
              <a:p>
                <a:endParaRPr lang="fi-FI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i-FI" dirty="0"/>
                  <a:t>Input impedance= 216</a:t>
                </a:r>
                <a:r>
                  <a:rPr lang="el-GR" dirty="0"/>
                  <a:t>Ω</a:t>
                </a:r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DC gain= 18.3 dB</a:t>
                </a:r>
              </a:p>
              <a:p>
                <a:r>
                  <a:rPr lang="fi-FI" dirty="0"/>
                  <a:t>Power consumption= 2.97mW</a:t>
                </a:r>
              </a:p>
              <a:p>
                <a:r>
                  <a:rPr lang="fi-FI" dirty="0"/>
                  <a:t>Input refered noise voltage=</a:t>
                </a:r>
              </a:p>
              <a:p>
                <a:r>
                  <a:rPr lang="fi-FI" dirty="0"/>
                  <a:t>21.2nV/</a:t>
                </a:r>
                <a:r>
                  <a:rPr lang="fi-FI" i="0" dirty="0">
                    <a:latin typeface="Cambria Math" panose="02040503050406030204" pitchFamily="18" charset="0"/>
                  </a:rPr>
                  <a:t>√</a:t>
                </a:r>
                <a:r>
                  <a:rPr lang="fi-FI" b="0" i="0" dirty="0">
                    <a:latin typeface="Cambria Math" panose="02040503050406030204" pitchFamily="18" charset="0"/>
                  </a:rPr>
                  <a:t>𝐻𝑧</a:t>
                </a:r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IIP3 = -3.15 dBm</a:t>
                </a:r>
              </a:p>
              <a:p>
                <a:r>
                  <a:rPr lang="fi-FI" dirty="0"/>
                  <a:t>P1dB = -15.82 dBm</a:t>
                </a:r>
              </a:p>
              <a:p>
                <a:endParaRPr lang="fi-FI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24BB8-0020-45DE-8945-D9F566855AD9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157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alto_EN_Electr-Eng_13_RGB_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900" y="5815013"/>
            <a:ext cx="2519363" cy="1042987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 userDrawn="1"/>
        </p:nvSpPr>
        <p:spPr>
          <a:xfrm>
            <a:off x="571472" y="5814000"/>
            <a:ext cx="7988400" cy="64800"/>
          </a:xfrm>
          <a:prstGeom prst="rect">
            <a:avLst/>
          </a:prstGeom>
          <a:solidFill>
            <a:srgbClr val="FF79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857620" y="5929330"/>
            <a:ext cx="1764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ELEC-E3560</a:t>
            </a:r>
          </a:p>
          <a:p>
            <a:r>
              <a:rPr lang="fi-FI" dirty="0"/>
              <a:t>IC Design</a:t>
            </a:r>
            <a:r>
              <a:rPr lang="fi-FI" baseline="0" dirty="0"/>
              <a:t> Project</a:t>
            </a:r>
            <a:endParaRPr lang="fi-FI" dirty="0"/>
          </a:p>
        </p:txBody>
      </p: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alto_EN_Electr-Eng_13_RGB_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900" y="5815013"/>
            <a:ext cx="2519363" cy="1042987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 userDrawn="1"/>
        </p:nvSpPr>
        <p:spPr>
          <a:xfrm>
            <a:off x="571472" y="5814000"/>
            <a:ext cx="7988400" cy="64800"/>
          </a:xfrm>
          <a:prstGeom prst="rect">
            <a:avLst/>
          </a:prstGeom>
          <a:solidFill>
            <a:srgbClr val="FF79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857620" y="5929330"/>
            <a:ext cx="1764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ELEC-E3560</a:t>
            </a:r>
          </a:p>
          <a:p>
            <a:r>
              <a:rPr lang="fi-FI" dirty="0"/>
              <a:t>IC Design</a:t>
            </a:r>
            <a:r>
              <a:rPr lang="fi-FI" baseline="0" dirty="0"/>
              <a:t> Project</a:t>
            </a:r>
            <a:endParaRPr lang="fi-F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1124744"/>
            <a:ext cx="63367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Comparison of three trans-impedance amplifiers for current-mode receivers</a:t>
            </a:r>
            <a:endParaRPr lang="fi-FI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20688"/>
            <a:ext cx="76328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800" dirty="0"/>
              <a:t>Contents</a:t>
            </a:r>
          </a:p>
          <a:p>
            <a:endParaRPr lang="fi-FI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400" dirty="0"/>
              <a:t>Materials used in this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400" dirty="0"/>
              <a:t>Background and 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400" dirty="0"/>
              <a:t>Operational Transcendence Amplifier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400" dirty="0"/>
              <a:t>Operational </a:t>
            </a:r>
            <a:r>
              <a:rPr lang="fi-FI" sz="2400"/>
              <a:t>Transcendence Amplifier with </a:t>
            </a:r>
            <a:r>
              <a:rPr lang="fi-FI" sz="2400" dirty="0"/>
              <a:t>merged common mode feedback stage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400" dirty="0"/>
              <a:t>Comparison</a:t>
            </a:r>
          </a:p>
          <a:p>
            <a:endParaRPr lang="fi-FI" sz="2400" dirty="0"/>
          </a:p>
        </p:txBody>
      </p:sp>
    </p:spTree>
    <p:extLst>
      <p:ext uri="{BB962C8B-B14F-4D97-AF65-F5344CB8AC3E}">
        <p14:creationId xmlns:p14="http://schemas.microsoft.com/office/powerpoint/2010/main" val="413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476672"/>
            <a:ext cx="864096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/>
              <a:t>Materials used in this work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and modeling of 1/f noise in </a:t>
            </a:r>
            <a:r>
              <a:rPr lang="en-US" dirty="0" err="1"/>
              <a:t>mosfets</a:t>
            </a:r>
            <a:r>
              <a:rPr lang="en-US" dirty="0"/>
              <a:t>: The joint effect of channel length and channel resistance, </a:t>
            </a:r>
            <a:r>
              <a:rPr lang="en-US" dirty="0" err="1"/>
              <a:t>Hardev</a:t>
            </a:r>
            <a:r>
              <a:rPr lang="en-US" dirty="0"/>
              <a:t> Singh; R.K Sarin; </a:t>
            </a:r>
            <a:r>
              <a:rPr lang="en-US" dirty="0" err="1"/>
              <a:t>Sarabjeet</a:t>
            </a:r>
            <a:r>
              <a:rPr lang="en-US" dirty="0"/>
              <a:t> Singh; 2012 International Conference on Devices, Circuits and Systems (ICDCS)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Characterization of 1/f noise vs. number of gate stripes in MOS transistors, Hsin-Shu Chen; A. Ito, 1999 IEEE International Symposium on Circuit and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Microelectronic circuits, A.S </a:t>
            </a:r>
            <a:r>
              <a:rPr lang="en-US" dirty="0" err="1"/>
              <a:t>Sedra</a:t>
            </a:r>
            <a:r>
              <a:rPr lang="en-US" dirty="0"/>
              <a:t>; K.C Smith, 2011, Oxford University 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High-frequency nonlinearity analysis of common-emitter and differential-pair transconductance stages, </a:t>
            </a:r>
            <a:r>
              <a:rPr lang="en-US" dirty="0" err="1"/>
              <a:t>Keng</a:t>
            </a:r>
            <a:r>
              <a:rPr lang="en-US" dirty="0"/>
              <a:t> Leong Fong;   R. G. Meyer, 1998, IEEE Journal of Solid-State Circuits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87619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04664"/>
            <a:ext cx="410864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dirty="0"/>
              <a:t>Background</a:t>
            </a:r>
          </a:p>
          <a:p>
            <a:endParaRPr lang="fi-FI" dirty="0"/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2000" dirty="0"/>
              <a:t>Transimpedance Amplifier (I-V in the picture) converts current into voltage.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000" dirty="0"/>
              <a:t>Large effect on overall receiver</a:t>
            </a:r>
          </a:p>
          <a:p>
            <a:r>
              <a:rPr lang="fi-FI" sz="2000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2000" dirty="0"/>
              <a:t>Requirements: </a:t>
            </a:r>
          </a:p>
          <a:p>
            <a:r>
              <a:rPr lang="fi-FI" sz="2000" dirty="0"/>
              <a:t>low input impedance, some gain, </a:t>
            </a:r>
          </a:p>
          <a:p>
            <a:r>
              <a:rPr lang="fi-FI" sz="2000" dirty="0"/>
              <a:t>high linearity and low noise.</a:t>
            </a:r>
          </a:p>
          <a:p>
            <a:endParaRPr lang="fi-FI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548679"/>
            <a:ext cx="3986277" cy="36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62069" y="4118067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/>
              <a:t>Current mode receiver</a:t>
            </a:r>
          </a:p>
        </p:txBody>
      </p:sp>
    </p:spTree>
    <p:extLst>
      <p:ext uri="{BB962C8B-B14F-4D97-AF65-F5344CB8AC3E}">
        <p14:creationId xmlns:p14="http://schemas.microsoft.com/office/powerpoint/2010/main" val="394928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83568" y="476672"/>
                <a:ext cx="7632848" cy="4061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4000" dirty="0"/>
                  <a:t>Performance parameters </a:t>
                </a:r>
              </a:p>
              <a:p>
                <a:endParaRPr lang="fi-FI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Input impedance – [</a:t>
                </a:r>
                <a:r>
                  <a:rPr lang="el-GR" sz="2800" dirty="0"/>
                  <a:t>Ω</a:t>
                </a:r>
                <a:r>
                  <a:rPr lang="fi-FI" sz="2800" dirty="0"/>
                  <a:t>]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Bandwitdh – Frequency where gain drops -3dB [Hz]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Voltage gain – [dB]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Linearity – 1dB compression point [dBm]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Noise –Input refered noise voltage nV/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i-FI" sz="280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i-FI" sz="2800" b="0" i="1" smtClean="0">
                            <a:latin typeface="Cambria Math" panose="02040503050406030204" pitchFamily="18" charset="0"/>
                          </a:rPr>
                          <m:t>𝐻𝑧</m:t>
                        </m:r>
                      </m:e>
                    </m:rad>
                  </m:oMath>
                </a14:m>
                <a:endParaRPr lang="fi-FI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fi-FI" sz="2800" dirty="0"/>
                  <a:t>Power consumption [mW]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76672"/>
                <a:ext cx="7632848" cy="4061625"/>
              </a:xfrm>
              <a:prstGeom prst="rect">
                <a:avLst/>
              </a:prstGeom>
              <a:blipFill>
                <a:blip r:embed="rId2"/>
                <a:stretch>
                  <a:fillRect l="-2796" t="-2703" b="-2853"/>
                </a:stretch>
              </a:blipFill>
            </p:spPr>
            <p:txBody>
              <a:bodyPr/>
              <a:lstStyle/>
              <a:p>
                <a:r>
                  <a:rPr lang="fi-F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94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404664"/>
            <a:ext cx="35779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dirty="0"/>
              <a:t>Operational Trancendence Amplifier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Closed loop gain is defined by feedback resistor and tuning resistor.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Gain can be increased with larger feedback resistor, but increases input impedance.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Feedback capacitor is used to set the bandwidth.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Low pass type response.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980728"/>
            <a:ext cx="3286457" cy="424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0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525" y="1124744"/>
            <a:ext cx="5147683" cy="3312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7543" y="656692"/>
            <a:ext cx="34959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/>
              <a:t>Operational Transcendence Amplifier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Both sides are symmetrical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Gain is NMOS gm*Rout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1/f noise is reduced by increasing overall transistor area and by PMOS L &gt; NMOS 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Bandwidth is limited by paracitic capacitances at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Linearity vs. Noise trade-off</a:t>
            </a:r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61548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525" y="1124744"/>
            <a:ext cx="5147683" cy="33123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7543" y="656692"/>
                <a:ext cx="3495981" cy="5012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2400" dirty="0"/>
                  <a:t>Operational Transcendence Amplifier</a:t>
                </a:r>
              </a:p>
              <a:p>
                <a:endParaRPr lang="fi-FI" dirty="0"/>
              </a:p>
              <a:p>
                <a:r>
                  <a:rPr lang="fi-FI" dirty="0"/>
                  <a:t>PMOS W=1080u L=5u</a:t>
                </a:r>
              </a:p>
              <a:p>
                <a:r>
                  <a:rPr lang="fi-FI" dirty="0"/>
                  <a:t>NMOS W=360u L=2.5u</a:t>
                </a:r>
              </a:p>
              <a:p>
                <a:r>
                  <a:rPr lang="fi-FI" dirty="0"/>
                  <a:t>Rfb=1k</a:t>
                </a:r>
                <a:r>
                  <a:rPr lang="el-GR" dirty="0"/>
                  <a:t>Ω</a:t>
                </a:r>
                <a:endParaRPr lang="fi-FI" dirty="0"/>
              </a:p>
              <a:p>
                <a:r>
                  <a:rPr lang="fi-FI" dirty="0"/>
                  <a:t>Cfb=3pF</a:t>
                </a:r>
              </a:p>
              <a:p>
                <a:r>
                  <a:rPr lang="fi-FI" dirty="0"/>
                  <a:t>Rtune=10K</a:t>
                </a:r>
                <a:r>
                  <a:rPr lang="el-GR" dirty="0"/>
                  <a:t>Ω</a:t>
                </a:r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Input impedance= 216</a:t>
                </a:r>
                <a:r>
                  <a:rPr lang="el-GR" dirty="0"/>
                  <a:t>Ω</a:t>
                </a:r>
                <a:endParaRPr lang="fi-FI" dirty="0"/>
              </a:p>
              <a:p>
                <a:r>
                  <a:rPr lang="fi-FI" dirty="0"/>
                  <a:t>DC gain= 18.3 dB</a:t>
                </a:r>
              </a:p>
              <a:p>
                <a:r>
                  <a:rPr lang="fi-FI" dirty="0"/>
                  <a:t>Power consumption= 2.97mW</a:t>
                </a:r>
              </a:p>
              <a:p>
                <a:r>
                  <a:rPr lang="fi-FI" dirty="0"/>
                  <a:t>Input refered noise voltage=</a:t>
                </a:r>
              </a:p>
              <a:p>
                <a:r>
                  <a:rPr lang="fi-FI" dirty="0"/>
                  <a:t>21.2nV/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i-FI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i-FI" b="0" i="1" dirty="0" smtClean="0">
                            <a:latin typeface="Cambria Math" panose="02040503050406030204" pitchFamily="18" charset="0"/>
                          </a:rPr>
                          <m:t>𝐻𝑧</m:t>
                        </m:r>
                      </m:e>
                    </m:rad>
                  </m:oMath>
                </a14:m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P1dB = -15.82 dBm</a:t>
                </a:r>
              </a:p>
              <a:p>
                <a:endParaRPr lang="fi-FI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3" y="656692"/>
                <a:ext cx="3495981" cy="5012078"/>
              </a:xfrm>
              <a:prstGeom prst="rect">
                <a:avLst/>
              </a:prstGeom>
              <a:blipFill>
                <a:blip r:embed="rId3"/>
                <a:stretch>
                  <a:fillRect l="-2792" t="-973"/>
                </a:stretch>
              </a:blipFill>
            </p:spPr>
            <p:txBody>
              <a:bodyPr/>
              <a:lstStyle/>
              <a:p>
                <a:r>
                  <a:rPr lang="fi-F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66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83568" y="836712"/>
                <a:ext cx="4752528" cy="4696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2400" dirty="0"/>
                  <a:t>Operational Transcendence Amplifier with merged Common Mode Feedback stage</a:t>
                </a:r>
              </a:p>
              <a:p>
                <a:endParaRPr lang="fi-FI" dirty="0"/>
              </a:p>
              <a:p>
                <a:r>
                  <a:rPr lang="fi-FI" dirty="0"/>
                  <a:t>Inverter with common mode feedback circuit at the top</a:t>
                </a:r>
              </a:p>
              <a:p>
                <a:endParaRPr lang="fi-FI" dirty="0"/>
              </a:p>
              <a:p>
                <a:r>
                  <a:rPr lang="fi-FI" dirty="0"/>
                  <a:t>Gain = gm1*gm2 / (Rds1||Rds2)</a:t>
                </a:r>
              </a:p>
              <a:p>
                <a:endParaRPr lang="fi-FI" dirty="0"/>
              </a:p>
              <a:p>
                <a:r>
                  <a:rPr lang="fi-FI" dirty="0"/>
                  <a:t>Input refered 1/f Noise: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i-FI" dirty="0"/>
                          <m:t>(</m:t>
                        </m:r>
                        <m:f>
                          <m:fPr>
                            <m:ctrlPr>
                              <a:rPr lang="fi-FI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fi-FI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fi-FI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</m:sSub>
                            <m:r>
                              <a:rPr lang="fi-FI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i-FI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  <m:r>
                          <a:rPr lang="fi-FI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i-FI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i-FI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i-FI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𝑔𝑚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fi-FI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i-FI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i-FI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i-FI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fi-FI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</m:sSub>
                            <m:r>
                              <a:rPr lang="fi-FI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i-FI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To improve noise:</a:t>
                </a:r>
              </a:p>
              <a:p>
                <a:r>
                  <a:rPr lang="fi-FI" dirty="0"/>
                  <a:t>-L1 and L2 should be large</a:t>
                </a:r>
              </a:p>
              <a:p>
                <a:r>
                  <a:rPr lang="fi-FI" dirty="0"/>
                  <a:t>-Both terms should be equal in magnitude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836712"/>
                <a:ext cx="4752528" cy="4696863"/>
              </a:xfrm>
              <a:prstGeom prst="rect">
                <a:avLst/>
              </a:prstGeom>
              <a:blipFill>
                <a:blip r:embed="rId2"/>
                <a:stretch>
                  <a:fillRect l="-1923" t="-1038" b="-1038"/>
                </a:stretch>
              </a:blipFill>
            </p:spPr>
            <p:txBody>
              <a:bodyPr/>
              <a:lstStyle/>
              <a:p>
                <a:r>
                  <a:rPr lang="fi-F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828364"/>
            <a:ext cx="325837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83568" y="836712"/>
                <a:ext cx="4752528" cy="5935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2400" dirty="0"/>
                  <a:t>Operational Transcendence Amplifier with merged Common Mode Feedback stage</a:t>
                </a:r>
              </a:p>
              <a:p>
                <a:endParaRPr lang="fi-FI" dirty="0"/>
              </a:p>
              <a:p>
                <a:r>
                  <a:rPr lang="fi-FI" dirty="0"/>
                  <a:t>PMOS W=960um L=10um</a:t>
                </a:r>
              </a:p>
              <a:p>
                <a:r>
                  <a:rPr lang="fi-FI" dirty="0"/>
                  <a:t>NMOS W=720um L=10um</a:t>
                </a:r>
              </a:p>
              <a:p>
                <a:r>
                  <a:rPr lang="fi-FI" dirty="0"/>
                  <a:t>Cfb=4.64p</a:t>
                </a:r>
              </a:p>
              <a:p>
                <a:r>
                  <a:rPr lang="fi-FI" dirty="0"/>
                  <a:t>Rfb=2kΩ</a:t>
                </a:r>
              </a:p>
              <a:p>
                <a:r>
                  <a:rPr lang="fi-FI" dirty="0"/>
                  <a:t>Rtune=10kΩ</a:t>
                </a:r>
              </a:p>
              <a:p>
                <a:endParaRPr lang="fi-FI" dirty="0"/>
              </a:p>
              <a:p>
                <a:r>
                  <a:rPr lang="fi-FI" dirty="0"/>
                  <a:t>Input impedance = 443Ω</a:t>
                </a:r>
              </a:p>
              <a:p>
                <a:r>
                  <a:rPr lang="fi-FI" dirty="0"/>
                  <a:t>DC gain= 18 dB</a:t>
                </a:r>
              </a:p>
              <a:p>
                <a:r>
                  <a:rPr lang="fi-FI" dirty="0"/>
                  <a:t>Power consumption= 2.06mW</a:t>
                </a:r>
              </a:p>
              <a:p>
                <a:r>
                  <a:rPr lang="fi-FI" dirty="0"/>
                  <a:t>Input refered noise voltage at 1kHz:</a:t>
                </a:r>
              </a:p>
              <a:p>
                <a:r>
                  <a:rPr lang="fi-FI" dirty="0"/>
                  <a:t>5.2nV/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i-FI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𝐻𝑧</m:t>
                        </m:r>
                      </m:e>
                    </m:rad>
                  </m:oMath>
                </a14:m>
                <a:endParaRPr lang="fi-FI" dirty="0"/>
              </a:p>
              <a:p>
                <a:endParaRPr lang="fi-FI" dirty="0"/>
              </a:p>
              <a:p>
                <a:r>
                  <a:rPr lang="fi-FI" dirty="0"/>
                  <a:t>P1dBm = -7.93 dBm</a:t>
                </a:r>
              </a:p>
              <a:p>
                <a:endParaRPr lang="fi-FI" dirty="0"/>
              </a:p>
              <a:p>
                <a:endParaRPr lang="fi-FI" dirty="0"/>
              </a:p>
              <a:p>
                <a:endParaRPr lang="fi-FI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836712"/>
                <a:ext cx="4752528" cy="5935407"/>
              </a:xfrm>
              <a:prstGeom prst="rect">
                <a:avLst/>
              </a:prstGeom>
              <a:blipFill>
                <a:blip r:embed="rId2"/>
                <a:stretch>
                  <a:fillRect l="-1923" t="-821"/>
                </a:stretch>
              </a:blipFill>
            </p:spPr>
            <p:txBody>
              <a:bodyPr/>
              <a:lstStyle/>
              <a:p>
                <a:r>
                  <a:rPr lang="fi-F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828364"/>
            <a:ext cx="325837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176060"/>
                  </p:ext>
                </p:extLst>
              </p:nvPr>
            </p:nvGraphicFramePr>
            <p:xfrm>
              <a:off x="1524000" y="1397000"/>
              <a:ext cx="6096000" cy="2392680"/>
            </p:xfrm>
            <a:graphic>
              <a:graphicData uri="http://schemas.openxmlformats.org/drawingml/2006/table">
                <a:tbl>
                  <a:tblPr firstRow="1" bandRow="1">
                    <a:tableStyleId>{08FB837D-C827-4EFA-A057-4D05807E0F7C}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347767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306372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6762505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i-FI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Differential pair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Inverter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593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Input impedance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216Ω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443Ω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23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DC gain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18.3dB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18 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5890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Input refered noise(@1kHz)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21.2nV/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fi-FI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i-FI" b="0" i="1" dirty="0" smtClean="0">
                                      <a:latin typeface="Cambria Math" panose="02040503050406030204" pitchFamily="18" charset="0"/>
                                    </a:rPr>
                                    <m:t>𝐻𝑧</m:t>
                                  </m:r>
                                </m:e>
                              </m:rad>
                            </m:oMath>
                          </a14:m>
                          <a:endParaRPr lang="fi-FI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5.2nV/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fi-FI" smtClean="0"/>
                                  </m:ctrlPr>
                                </m:radPr>
                                <m:deg/>
                                <m:e>
                                  <m:r>
                                    <a:rPr lang="fi-FI" smtClean="0"/>
                                    <m:t>𝐻𝑧</m:t>
                                  </m:r>
                                </m:e>
                              </m:rad>
                            </m:oMath>
                          </a14:m>
                          <a:endParaRPr lang="fi-FI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824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1dB compression point(@1Mhz)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i-FI" dirty="0"/>
                            <a:t>-15.82 dBm</a:t>
                          </a:r>
                        </a:p>
                        <a:p>
                          <a:endParaRPr lang="fi-FI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i-FI" dirty="0"/>
                            <a:t>-7.93 dBm</a:t>
                          </a:r>
                        </a:p>
                        <a:p>
                          <a:endParaRPr lang="fi-FI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5746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176060"/>
                  </p:ext>
                </p:extLst>
              </p:nvPr>
            </p:nvGraphicFramePr>
            <p:xfrm>
              <a:off x="1524000" y="1397000"/>
              <a:ext cx="6096000" cy="2392680"/>
            </p:xfrm>
            <a:graphic>
              <a:graphicData uri="http://schemas.openxmlformats.org/drawingml/2006/table">
                <a:tbl>
                  <a:tblPr firstRow="1" bandRow="1">
                    <a:tableStyleId>{08FB837D-C827-4EFA-A057-4D05807E0F7C}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347767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306372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6762505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i-FI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Differential pair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Inverter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5930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Input impedance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216Ω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443Ω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23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DC gain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18.3dB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18 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58904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Input refered noise(@1kHz)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i-FI"/>
                        </a:p>
                      </a:txBody>
                      <a:tcPr>
                        <a:blipFill>
                          <a:blip r:embed="rId3"/>
                          <a:stretch>
                            <a:fillRect l="-102096" t="-179048" r="-102695" b="-1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i-FI"/>
                        </a:p>
                      </a:txBody>
                      <a:tcPr>
                        <a:blipFill>
                          <a:blip r:embed="rId3"/>
                          <a:stretch>
                            <a:fillRect l="-202703" t="-179048" r="-3003" b="-1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8240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fi-FI" dirty="0"/>
                            <a:t>1dB compression point(@1Mhz)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i-FI" dirty="0"/>
                            <a:t>-15.82 dBm</a:t>
                          </a:r>
                        </a:p>
                        <a:p>
                          <a:endParaRPr lang="fi-FI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i-FI" dirty="0"/>
                            <a:t>-7.93 dBm</a:t>
                          </a:r>
                        </a:p>
                        <a:p>
                          <a:endParaRPr lang="fi-FI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5746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2483768" y="548680"/>
            <a:ext cx="29450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4400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95648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572</Words>
  <Application>Microsoft Office PowerPoint</Application>
  <PresentationFormat>On-screen Show (4:3)</PresentationFormat>
  <Paragraphs>126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kst</dc:creator>
  <cp:lastModifiedBy>Ahola Roope</cp:lastModifiedBy>
  <cp:revision>58</cp:revision>
  <dcterms:created xsi:type="dcterms:W3CDTF">2014-11-10T12:18:05Z</dcterms:created>
  <dcterms:modified xsi:type="dcterms:W3CDTF">2017-05-23T05:47:35Z</dcterms:modified>
</cp:coreProperties>
</file>